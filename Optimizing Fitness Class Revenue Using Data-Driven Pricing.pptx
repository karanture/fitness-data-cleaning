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7691D-6453-42B1-ABD6-7C134DD0C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A0FE8-D685-49E2-B850-8DFBDE536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8C654-C2DC-43A4-BF18-C1D1CE486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F569-0C34-4111-9FAD-F7C532F16CD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55BE0-6E8B-4B38-B505-4B023E9BD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9F81F-53B4-4AC2-BFF6-F9F951566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5EEC-84A3-406A-9646-5B6A28C624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083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8A05-51AE-4024-A9CC-0BE30C2CD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D33A6-DEFC-46CA-AD4D-5E6209DC7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E0527-8B6F-4A4D-966B-47BBE5EEE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F569-0C34-4111-9FAD-F7C532F16CD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11FE0-0E80-4464-92BE-9EC9D748C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DE3D6-8725-4BB8-98C0-F4916284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5EEC-84A3-406A-9646-5B6A28C624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997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6266D-ADB0-46E7-8A15-64466117C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7842A-A078-4EF8-9CD5-22C28B46F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DCAC1-B6C6-4C99-B22E-35CB7297D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F569-0C34-4111-9FAD-F7C532F16CD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8C4D5-5AF5-4D90-B643-479011E7B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D61D6-7011-483A-B238-9BF068463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5EEC-84A3-406A-9646-5B6A28C624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539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5742D-9BB0-41DA-8002-DD0998AFD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46576-688D-47A2-AE5E-0DE362071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20EE0-727F-41B7-8B4E-C48235FB9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5D76E-869C-4B0F-BC4F-0226CCCB0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F569-0C34-4111-9FAD-F7C532F16CD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BCA7A-E69A-4FFA-A290-324983767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EEFA7-B4BB-4CDC-B4AA-6B8D9E77C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5EEC-84A3-406A-9646-5B6A28C624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440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D483-3E7C-4485-A419-6FB6A2B62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7270B-236E-4D3B-BD9B-74FCE63D7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6B086-DB00-4216-995F-653C1029DB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27C2A8-1D61-4A77-98E6-914C580F5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08D0AA-2092-4957-AC40-9722B5A28B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97D322-498A-44E1-8284-94AAFFD7A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F569-0C34-4111-9FAD-F7C532F16CD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CEFF7C-7877-48A8-86A1-2D3D1500E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59A07E-21E6-4EA4-9A8A-32A19D990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5EEC-84A3-406A-9646-5B6A28C624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153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1FF7D-3769-4516-AE34-A17A41AC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364B00-E6F5-41A0-BDF3-6B5D3D01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F569-0C34-4111-9FAD-F7C532F16CD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4CE859-7784-4BD5-A7AD-81885E909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CF49B-1FF2-42DE-A6F6-B25D7AF1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5EEC-84A3-406A-9646-5B6A28C624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144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1A3BDE-98C7-4A40-A06C-645B00B31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F569-0C34-4111-9FAD-F7C532F16CD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16DFF-0926-49AC-9283-FCA5C1F84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AE9C9-5374-4CE8-87E5-D00C75D56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5EEC-84A3-406A-9646-5B6A28C624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576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530C5-BF59-4FAA-A1C1-31253C8A3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8BA1D-1FE1-4102-A774-ABB19D684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3200B-2A3F-4875-81A3-3694BE668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05E16-27A5-43B3-8F46-67F747D2C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F569-0C34-4111-9FAD-F7C532F16CD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E8F82-09DF-46FE-BAE1-3040F4C48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9F87F-6A25-423F-982D-878ABBA74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5EEC-84A3-406A-9646-5B6A28C624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785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5ECE9-B4B6-44A0-9D0D-199E3B3F4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7D58A2-7208-4754-B06D-62B298E850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89F0F-4FDB-4B1F-B9C2-3AE08200F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1CCDC-51E8-445E-A0EF-71A54F905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F569-0C34-4111-9FAD-F7C532F16CD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E6888-C1CC-41BC-BA59-8BA318599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062F8-FC94-4EDD-8C54-33A1AB2C9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5EEC-84A3-406A-9646-5B6A28C624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73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376AA-095D-4DEB-93A8-79D1A6760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FC3A0-B2E1-446E-A0D6-4243B3DD8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F1523-B1CD-4755-A0FA-E36463065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F569-0C34-4111-9FAD-F7C532F16CD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DCDB0-1530-4E20-A368-7C9CA36F8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C7C98-AFA3-4D0A-A95F-8A4F013DD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5EEC-84A3-406A-9646-5B6A28C624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002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8BCE78-D476-4503-8BF6-C1CA85E46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84945-17E9-4CA8-9433-3D0169980D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C2072-D490-487C-A504-D4142F054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F569-0C34-4111-9FAD-F7C532F16CD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2A524-B085-4190-AADD-9D4F22EB6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AE2AE-9C04-41B5-996C-5D5AF52C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5EEC-84A3-406A-9646-5B6A28C624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076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6ED793-5947-40BB-88C4-9887C4095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B5F39-A995-40B9-9812-91A388524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1A5B7-3147-45AB-A8E0-C9825CC5EA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2F569-0C34-4111-9FAD-F7C532F16CD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17E18-DB53-4AE5-938C-BA746F302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0B6B2-50BA-40D8-BF1C-D4A4E5F98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55EEC-84A3-406A-9646-5B6A28C624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155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16FDD-169F-41A2-9E64-E269C51DA8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Optimizing Fitness Class Revenue Using Data-Driven Pricing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40455-D702-452F-B16E-6AF09FB40C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2600" b="1" dirty="0"/>
              <a:t>Subtitle:</a:t>
            </a:r>
          </a:p>
          <a:p>
            <a:r>
              <a:rPr lang="en-US" sz="2600" b="1" dirty="0"/>
              <a:t>Exploratory Analysis, Demand Forecasting &amp; Dynamic Pricing</a:t>
            </a:r>
          </a:p>
          <a:p>
            <a:endParaRPr lang="en-US" dirty="0"/>
          </a:p>
          <a:p>
            <a:r>
              <a:rPr lang="en-US" b="1" dirty="0"/>
              <a:t>Prepared by:</a:t>
            </a:r>
            <a:br>
              <a:rPr lang="en-US" dirty="0"/>
            </a:br>
            <a:r>
              <a:rPr lang="en-US" dirty="0"/>
              <a:t>Karan Prakash 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1691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A0695C-39A1-477B-9A20-CEA99EAB4F4E}"/>
              </a:ext>
            </a:extLst>
          </p:cNvPr>
          <p:cNvSpPr/>
          <p:nvPr/>
        </p:nvSpPr>
        <p:spPr>
          <a:xfrm>
            <a:off x="488575" y="475770"/>
            <a:ext cx="1001485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Objective: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Fitness classes experience fluctuating demand across time and class 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Static pricing leads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Under-monetization during peak demand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Low utilization during off-peak hours</a:t>
            </a:r>
          </a:p>
          <a:p>
            <a:endParaRPr lang="en-US" sz="2800" b="1" dirty="0"/>
          </a:p>
          <a:p>
            <a:endParaRPr lang="en-US" sz="2800" b="1" dirty="0"/>
          </a:p>
          <a:p>
            <a:r>
              <a:rPr lang="en-US" sz="2800" b="1" dirty="0"/>
              <a:t>Goal: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Maximize revenue per class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Improve overall class occupancy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Align pricing with customer demand</a:t>
            </a:r>
          </a:p>
        </p:txBody>
      </p:sp>
    </p:spTree>
    <p:extLst>
      <p:ext uri="{BB962C8B-B14F-4D97-AF65-F5344CB8AC3E}">
        <p14:creationId xmlns:p14="http://schemas.microsoft.com/office/powerpoint/2010/main" val="147953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67B88C-6CC2-4405-800C-B12D3C3042BC}"/>
              </a:ext>
            </a:extLst>
          </p:cNvPr>
          <p:cNvSpPr/>
          <p:nvPr/>
        </p:nvSpPr>
        <p:spPr>
          <a:xfrm>
            <a:off x="239486" y="348344"/>
            <a:ext cx="1162594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Data Sources: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Historical fitness class booking data (April–June 2018)</a:t>
            </a:r>
          </a:p>
          <a:p>
            <a:r>
              <a:rPr lang="en-US" sz="3200" b="1" dirty="0"/>
              <a:t>Key Variables Used: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Class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Booking date &amp;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Price (INR)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Number of bookings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Maximum capacity</a:t>
            </a:r>
          </a:p>
          <a:p>
            <a:r>
              <a:rPr lang="en-US" sz="3200" b="1" dirty="0"/>
              <a:t>Derived Metrics: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Attendance ratio (demand proxy)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Revenue per class</a:t>
            </a:r>
          </a:p>
        </p:txBody>
      </p:sp>
    </p:spTree>
    <p:extLst>
      <p:ext uri="{BB962C8B-B14F-4D97-AF65-F5344CB8AC3E}">
        <p14:creationId xmlns:p14="http://schemas.microsoft.com/office/powerpoint/2010/main" val="3623142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EA48F6-4B02-4B9F-8D87-56ADCDDCE035}"/>
              </a:ext>
            </a:extLst>
          </p:cNvPr>
          <p:cNvSpPr/>
          <p:nvPr/>
        </p:nvSpPr>
        <p:spPr>
          <a:xfrm>
            <a:off x="446315" y="147918"/>
            <a:ext cx="1149467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Key Findings: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Certain class types consistently show high booking rates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Demand varies significantly by time and class 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Some classes operate near full capacity while others remain underutilized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C5D94D-1CD6-4418-9D2D-16EC214DE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22" y="1959625"/>
            <a:ext cx="10992008" cy="393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216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A03E18-E649-4D3C-B946-9B0173333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53" y="226908"/>
            <a:ext cx="9197788" cy="42778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DDB94A1-04CF-41B7-8BE5-5CE690FF4FE6}"/>
              </a:ext>
            </a:extLst>
          </p:cNvPr>
          <p:cNvSpPr/>
          <p:nvPr/>
        </p:nvSpPr>
        <p:spPr>
          <a:xfrm>
            <a:off x="363071" y="4598894"/>
            <a:ext cx="114031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wide spread in attendance ratios highlights underutilized classes alongside consistently full sessions, revealing opportunities for both discounting and premium pricing.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3443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0B0D7B-4AA4-4DDE-BC92-AE0EF09183CE}"/>
              </a:ext>
            </a:extLst>
          </p:cNvPr>
          <p:cNvSpPr/>
          <p:nvPr/>
        </p:nvSpPr>
        <p:spPr>
          <a:xfrm>
            <a:off x="403413" y="282389"/>
            <a:ext cx="1117450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Approach: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Regression-based price elasticity modeling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Studied relationship between price and demand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Demand is moderately price sensitive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High-demand classes show lower price sensitivity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Low-demand classes are more price elastic</a:t>
            </a:r>
          </a:p>
          <a:p>
            <a:r>
              <a:rPr lang="en-US" b="1" dirty="0"/>
              <a:t>Implication: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Prices can be increased for high-demand classes without significant loss of bookings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F1EE39-4CA3-4C9E-A814-A848E7144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271" y="3072526"/>
            <a:ext cx="7032811" cy="378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697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407D27-BEC7-4CDF-A1F9-487D700C24D4}"/>
              </a:ext>
            </a:extLst>
          </p:cNvPr>
          <p:cNvSpPr/>
          <p:nvPr/>
        </p:nvSpPr>
        <p:spPr>
          <a:xfrm>
            <a:off x="537881" y="268941"/>
            <a:ext cx="1102658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Approach: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 series forecasting on historical booking data</a:t>
            </a:r>
          </a:p>
          <a:p>
            <a:r>
              <a:rPr lang="en-US" b="1" dirty="0"/>
              <a:t>Key Observations: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Demand patterns show repeatable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Peak periods can be anticipated using historical data</a:t>
            </a:r>
          </a:p>
          <a:p>
            <a:r>
              <a:rPr lang="en-US" b="1" dirty="0"/>
              <a:t>Business Value: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proactive pricing decisions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plan class scheduling and capacity allocation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19F409-4FE7-41F2-AAF5-7E832A273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741" y="2783540"/>
            <a:ext cx="8122584" cy="365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747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CAC0C6-D4B5-4AFE-A93E-8F575F01A9E6}"/>
              </a:ext>
            </a:extLst>
          </p:cNvPr>
          <p:cNvSpPr/>
          <p:nvPr/>
        </p:nvSpPr>
        <p:spPr>
          <a:xfrm>
            <a:off x="295835" y="228600"/>
            <a:ext cx="11658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High-Demand Indicators: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Attendance ratio ≥ 80%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Consistently high bookings across weeks</a:t>
            </a:r>
          </a:p>
          <a:p>
            <a:r>
              <a:rPr lang="en-US" b="1" dirty="0"/>
              <a:t>Key Drivers: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 popularity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 slots with repeat high occupancy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preferences for specific workout formats</a:t>
            </a:r>
          </a:p>
          <a:p>
            <a:r>
              <a:rPr lang="en-US" b="1" dirty="0"/>
              <a:t>Outcome: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Clear identification of classes suitable for premium pricing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9D7EC9-54D2-4F64-8CBC-A0F54994E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431883"/>
              </p:ext>
            </p:extLst>
          </p:nvPr>
        </p:nvGraphicFramePr>
        <p:xfrm>
          <a:off x="510988" y="4222376"/>
          <a:ext cx="10842813" cy="2366680"/>
        </p:xfrm>
        <a:graphic>
          <a:graphicData uri="http://schemas.openxmlformats.org/drawingml/2006/table">
            <a:tbl>
              <a:tblPr/>
              <a:tblGrid>
                <a:gridCol w="3027993">
                  <a:extLst>
                    <a:ext uri="{9D8B030D-6E8A-4147-A177-3AD203B41FA5}">
                      <a16:colId xmlns:a16="http://schemas.microsoft.com/office/drawing/2014/main" val="3118307724"/>
                    </a:ext>
                  </a:extLst>
                </a:gridCol>
                <a:gridCol w="3907410">
                  <a:extLst>
                    <a:ext uri="{9D8B030D-6E8A-4147-A177-3AD203B41FA5}">
                      <a16:colId xmlns:a16="http://schemas.microsoft.com/office/drawing/2014/main" val="2154325181"/>
                    </a:ext>
                  </a:extLst>
                </a:gridCol>
                <a:gridCol w="3907410">
                  <a:extLst>
                    <a:ext uri="{9D8B030D-6E8A-4147-A177-3AD203B41FA5}">
                      <a16:colId xmlns:a16="http://schemas.microsoft.com/office/drawing/2014/main" val="1040585539"/>
                    </a:ext>
                  </a:extLst>
                </a:gridCol>
              </a:tblGrid>
              <a:tr h="473336">
                <a:tc>
                  <a:txBody>
                    <a:bodyPr/>
                    <a:lstStyle/>
                    <a:p>
                      <a:r>
                        <a:rPr lang="en-IN" dirty="0"/>
                        <a:t>Demand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Attendance 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Price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5362802"/>
                  </a:ext>
                </a:extLst>
              </a:tr>
              <a:tr h="473336"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≥ 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+20%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7676967"/>
                  </a:ext>
                </a:extLst>
              </a:tr>
              <a:tr h="473336">
                <a:tc>
                  <a:txBody>
                    <a:bodyPr/>
                    <a:lstStyle/>
                    <a:p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50–79%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+10%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680626"/>
                  </a:ext>
                </a:extLst>
              </a:tr>
              <a:tr h="473336">
                <a:tc>
                  <a:txBody>
                    <a:bodyPr/>
                    <a:lstStyle/>
                    <a:p>
                      <a:r>
                        <a:rPr lang="en-IN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30–49%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516323"/>
                  </a:ext>
                </a:extLst>
              </a:tr>
              <a:tr h="473336"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&lt; 30%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−15%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776945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7F1492C-1F4E-4A65-9B9B-575D4BA962E3}"/>
              </a:ext>
            </a:extLst>
          </p:cNvPr>
          <p:cNvSpPr/>
          <p:nvPr/>
        </p:nvSpPr>
        <p:spPr>
          <a:xfrm>
            <a:off x="295835" y="3227294"/>
            <a:ext cx="88481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Pricing Logic:</a:t>
            </a:r>
            <a:br>
              <a:rPr lang="en-US" dirty="0"/>
            </a:br>
            <a:r>
              <a:rPr lang="en-US" dirty="0"/>
              <a:t>Prices adjusted dynamically based on demand levels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6492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A5CD0D-EBDF-4A40-B335-98FD2E16BE19}"/>
              </a:ext>
            </a:extLst>
          </p:cNvPr>
          <p:cNvSpPr/>
          <p:nvPr/>
        </p:nvSpPr>
        <p:spPr>
          <a:xfrm>
            <a:off x="309282" y="201706"/>
            <a:ext cx="1137621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Simulation Approach: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Applied dynamic pricing rules on historical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Compared static vs dynamic pricing revenue</a:t>
            </a:r>
          </a:p>
          <a:p>
            <a:r>
              <a:rPr lang="en-US" b="1" dirty="0"/>
              <a:t>Results: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revenue during peak demand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utilization for low-demand classes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Overall revenue uplift observed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8F779E-B4C4-4028-BB85-2C3160BCD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153" y="2474259"/>
            <a:ext cx="6521823" cy="402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684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34CA20-0555-4F65-B3AA-49A9F2BBA1DF}"/>
              </a:ext>
            </a:extLst>
          </p:cNvPr>
          <p:cNvSpPr/>
          <p:nvPr/>
        </p:nvSpPr>
        <p:spPr>
          <a:xfrm>
            <a:off x="309281" y="174812"/>
            <a:ext cx="1128208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Business Impact</a:t>
            </a:r>
          </a:p>
          <a:p>
            <a:r>
              <a:rPr lang="en-US" b="1" dirty="0"/>
              <a:t>Revenue Growth: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monetization of high-demand classes</a:t>
            </a:r>
          </a:p>
          <a:p>
            <a:r>
              <a:rPr lang="en-US" b="1" dirty="0"/>
              <a:t>Operational Efficiency: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occupancy during off-peak hours</a:t>
            </a:r>
          </a:p>
          <a:p>
            <a:r>
              <a:rPr lang="en-US" b="1" dirty="0"/>
              <a:t>Customer Value: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Fair, demand-based pricing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Incentives for booking low-demand sessions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74D750-C692-4349-8A3B-56508B406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162339"/>
              </p:ext>
            </p:extLst>
          </p:nvPr>
        </p:nvGraphicFramePr>
        <p:xfrm>
          <a:off x="838200" y="3863878"/>
          <a:ext cx="10515600" cy="2308324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1674318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8461438"/>
                    </a:ext>
                  </a:extLst>
                </a:gridCol>
              </a:tblGrid>
              <a:tr h="577081">
                <a:tc>
                  <a:txBody>
                    <a:bodyPr/>
                    <a:lstStyle/>
                    <a:p>
                      <a:r>
                        <a:rPr lang="en-IN"/>
                        <a:t>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Mitigation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781523"/>
                  </a:ext>
                </a:extLst>
              </a:tr>
              <a:tr h="577081">
                <a:tc>
                  <a:txBody>
                    <a:bodyPr/>
                    <a:lstStyle/>
                    <a:p>
                      <a:r>
                        <a:rPr lang="en-IN"/>
                        <a:t>Customer price sensitivity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Gradual price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8827505"/>
                  </a:ext>
                </a:extLst>
              </a:tr>
              <a:tr h="577081">
                <a:tc>
                  <a:txBody>
                    <a:bodyPr/>
                    <a:lstStyle/>
                    <a:p>
                      <a:r>
                        <a:rPr lang="en-IN"/>
                        <a:t>Price perception issues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Transparent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347013"/>
                  </a:ext>
                </a:extLst>
              </a:tr>
              <a:tr h="577081">
                <a:tc>
                  <a:txBody>
                    <a:bodyPr/>
                    <a:lstStyle/>
                    <a:p>
                      <a:r>
                        <a:rPr lang="en-IN" dirty="0"/>
                        <a:t>Demand volatility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Continuous model 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574648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D1E9C0A-2268-4519-9EB2-9C3F5A3FF5C0}"/>
              </a:ext>
            </a:extLst>
          </p:cNvPr>
          <p:cNvSpPr/>
          <p:nvPr/>
        </p:nvSpPr>
        <p:spPr>
          <a:xfrm>
            <a:off x="838200" y="2864224"/>
            <a:ext cx="61946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Risks &amp; Mitigation</a:t>
            </a:r>
          </a:p>
        </p:txBody>
      </p:sp>
    </p:spTree>
    <p:extLst>
      <p:ext uri="{BB962C8B-B14F-4D97-AF65-F5344CB8AC3E}">
        <p14:creationId xmlns:p14="http://schemas.microsoft.com/office/powerpoint/2010/main" val="820837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F16DB1-A3C1-4B37-A3A0-E3B993D49C44}"/>
              </a:ext>
            </a:extLst>
          </p:cNvPr>
          <p:cNvSpPr/>
          <p:nvPr/>
        </p:nvSpPr>
        <p:spPr>
          <a:xfrm>
            <a:off x="282388" y="309282"/>
            <a:ext cx="117123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Recommendations</a:t>
            </a:r>
          </a:p>
          <a:p>
            <a:pPr>
              <a:buFont typeface="+mj-lt"/>
              <a:buAutoNum type="arabicPeriod"/>
            </a:pPr>
            <a:r>
              <a:rPr lang="en-US" dirty="0"/>
              <a:t>Pilot dynamic pricing for selected class categories</a:t>
            </a:r>
          </a:p>
          <a:p>
            <a:pPr>
              <a:buFont typeface="+mj-lt"/>
              <a:buAutoNum type="arabicPeriod"/>
            </a:pPr>
            <a:r>
              <a:rPr lang="en-US" dirty="0"/>
              <a:t>Monitor revenue and booking behavior weekly</a:t>
            </a:r>
          </a:p>
          <a:p>
            <a:pPr>
              <a:buFont typeface="+mj-lt"/>
              <a:buAutoNum type="arabicPeriod"/>
            </a:pPr>
            <a:r>
              <a:rPr lang="en-US" dirty="0"/>
              <a:t>Introduce price caps to avoid extreme fluctuations</a:t>
            </a:r>
          </a:p>
          <a:p>
            <a:pPr>
              <a:buFont typeface="+mj-lt"/>
              <a:buAutoNum type="arabicPeriod"/>
            </a:pPr>
            <a:r>
              <a:rPr lang="en-US" dirty="0"/>
              <a:t>Integrate promotional offers for low-demand periods</a:t>
            </a:r>
          </a:p>
          <a:p>
            <a:pPr>
              <a:buFont typeface="+mj-lt"/>
              <a:buAutoNum type="arabicPeriod"/>
            </a:pPr>
            <a:r>
              <a:rPr lang="en-US" dirty="0"/>
              <a:t>Enhance model with location and time-of-day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AB98C3-8D94-4680-B90B-1BCCB6412210}"/>
              </a:ext>
            </a:extLst>
          </p:cNvPr>
          <p:cNvSpPr/>
          <p:nvPr/>
        </p:nvSpPr>
        <p:spPr>
          <a:xfrm>
            <a:off x="389965" y="2393576"/>
            <a:ext cx="87540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Conclusion</a:t>
            </a:r>
          </a:p>
          <a:p>
            <a:r>
              <a:rPr lang="en-US" b="1" dirty="0"/>
              <a:t>Summary: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Data-driven pricing improves both revenue and utilization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Dynamic pricing aligns prices with real customer demand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Scalable solution for long-term business growth</a:t>
            </a:r>
          </a:p>
          <a:p>
            <a:r>
              <a:rPr lang="en-US" b="1" dirty="0"/>
              <a:t>Next Steps: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Expand model using richer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Deploy in real-time booking systems</a:t>
            </a:r>
          </a:p>
        </p:txBody>
      </p:sp>
    </p:spTree>
    <p:extLst>
      <p:ext uri="{BB962C8B-B14F-4D97-AF65-F5344CB8AC3E}">
        <p14:creationId xmlns:p14="http://schemas.microsoft.com/office/powerpoint/2010/main" val="308637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482</Words>
  <Application>Microsoft Office PowerPoint</Application>
  <PresentationFormat>Widescreen</PresentationFormat>
  <Paragraphs>112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Optimizing Fitness Class Revenue Using Data-Driven Pricing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Fitness Class Revenue Using Data-Driven Pricing</dc:title>
  <dc:creator>HP</dc:creator>
  <cp:lastModifiedBy>HP</cp:lastModifiedBy>
  <cp:revision>4</cp:revision>
  <dcterms:created xsi:type="dcterms:W3CDTF">2025-12-18T17:22:49Z</dcterms:created>
  <dcterms:modified xsi:type="dcterms:W3CDTF">2025-12-18T17:46:39Z</dcterms:modified>
</cp:coreProperties>
</file>